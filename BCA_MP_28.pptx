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8"/>
  </p:notesMasterIdLst>
  <p:sldIdLst>
    <p:sldId id="475" r:id="rId2"/>
    <p:sldId id="257" r:id="rId3"/>
    <p:sldId id="269" r:id="rId4"/>
    <p:sldId id="479" r:id="rId5"/>
    <p:sldId id="480" r:id="rId6"/>
    <p:sldId id="487" r:id="rId7"/>
    <p:sldId id="478" r:id="rId8"/>
    <p:sldId id="483" r:id="rId9"/>
    <p:sldId id="482" r:id="rId10"/>
    <p:sldId id="484" r:id="rId11"/>
    <p:sldId id="485" r:id="rId12"/>
    <p:sldId id="486" r:id="rId13"/>
    <p:sldId id="476" r:id="rId14"/>
    <p:sldId id="488" r:id="rId15"/>
    <p:sldId id="270" r:id="rId16"/>
    <p:sldId id="266" r:id="rId17"/>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7" autoAdjust="0"/>
    <p:restoredTop sz="94434" autoAdjust="0"/>
  </p:normalViewPr>
  <p:slideViewPr>
    <p:cSldViewPr snapToGrid="0">
      <p:cViewPr varScale="1">
        <p:scale>
          <a:sx n="78" d="100"/>
          <a:sy n="78" d="100"/>
        </p:scale>
        <p:origin x="1104" y="72"/>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esh v" userId="caa7a4cc8cfdbac6" providerId="LiveId" clId="{27077D0D-676A-4939-AC4B-73868A571B85}"/>
    <pc:docChg chg="delSld">
      <pc:chgData name="ganesh v" userId="caa7a4cc8cfdbac6" providerId="LiveId" clId="{27077D0D-676A-4939-AC4B-73868A571B85}" dt="2026-09-11T11:33:23.560" v="0" actId="2696"/>
      <pc:docMkLst>
        <pc:docMk/>
      </pc:docMkLst>
      <pc:sldChg chg="del">
        <pc:chgData name="ganesh v" userId="caa7a4cc8cfdbac6" providerId="LiveId" clId="{27077D0D-676A-4939-AC4B-73868A571B85}" dt="2026-09-11T11:33:23.560" v="0" actId="2696"/>
        <pc:sldMkLst>
          <pc:docMk/>
          <pc:sldMk cId="4256261028" sldId="4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9/11/2026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02D6882-F487-2BBE-6EE7-E6E2A877910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D233CCE-6DC1-DF39-7D4B-A750048383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1C56AB1-8891-0ED9-FDF2-23495F7D0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54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235C88D-C7FC-8FBD-E724-18C9894A21F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2691D9E-4DBC-C04A-11B4-E84B361A10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AD666AE-999F-7381-3C0C-EFC56DD91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4008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9/11/2026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9/11/2026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9/11/2026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9/11/2026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9/11/2026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9/11/2026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9/11/2026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9/11/2026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9/11/2026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9/11/2026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9/11/2026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9/11/2026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1560060"/>
          </a:xfrm>
        </p:spPr>
        <p:txBody>
          <a:bodyPr/>
          <a:lstStyle/>
          <a:p>
            <a:pPr algn="ctr"/>
            <a:r>
              <a:rPr lang="en-IN" altLang="en-US" sz="2000" b="1" dirty="0">
                <a:solidFill>
                  <a:srgbClr val="00B0F0"/>
                </a:solidFill>
                <a:latin typeface="Times New Roman" panose="02020603050405020304" pitchFamily="18" charset="0"/>
                <a:cs typeface="Times New Roman" panose="02020603050405020304" pitchFamily="18" charset="0"/>
              </a:rPr>
              <a:t>BCA Mini Project (Review I)</a:t>
            </a:r>
            <a:br>
              <a:rPr lang="en-IN" sz="2000" b="1" dirty="0">
                <a:solidFill>
                  <a:srgbClr val="00B0F0"/>
                </a:solidFill>
                <a:latin typeface="Times New Roman" panose="02020603050405020304" pitchFamily="18" charset="0"/>
                <a:cs typeface="Times New Roman" panose="02020603050405020304" pitchFamily="18" charset="0"/>
              </a:rPr>
            </a:br>
            <a:br>
              <a:rPr lang="en-US" sz="1800" b="1" dirty="0">
                <a:solidFill>
                  <a:srgbClr val="002060"/>
                </a:solidFill>
                <a:latin typeface="Times New Roman" panose="02020603050405020304" pitchFamily="18" charset="0"/>
                <a:ea typeface="Tahoma" pitchFamily="34" charset="0"/>
                <a:cs typeface="Times New Roman" panose="02020603050405020304" pitchFamily="18" charset="0"/>
              </a:rPr>
            </a:br>
            <a:r>
              <a:rPr lang="en-IN" b="1" i="1" u="sng" dirty="0">
                <a:solidFill>
                  <a:srgbClr val="002060"/>
                </a:solidFill>
                <a:effectLst>
                  <a:outerShdw blurRad="38100" dist="38100" dir="2700000" algn="tl">
                    <a:srgbClr val="000000">
                      <a:alpha val="43137"/>
                    </a:srgbClr>
                  </a:outerShdw>
                </a:effectLst>
              </a:rPr>
              <a:t>STUDENT SKILL EXCHANGE</a:t>
            </a:r>
            <a:br>
              <a:rPr lang="en-IN" sz="3600" b="1" i="1" u="sng" dirty="0">
                <a:solidFill>
                  <a:srgbClr val="002060"/>
                </a:solidFill>
                <a:effectLst>
                  <a:outerShdw blurRad="38100" dist="38100" dir="2700000" algn="tl">
                    <a:srgbClr val="000000">
                      <a:alpha val="43137"/>
                    </a:srgbClr>
                  </a:outerShdw>
                </a:effectLst>
              </a:rPr>
            </a:br>
            <a:br>
              <a:rPr lang="en-US" sz="1800" b="1" i="1" u="sng" dirty="0">
                <a:solidFill>
                  <a:srgbClr val="002060"/>
                </a:solidFill>
                <a:effectLst>
                  <a:outerShdw blurRad="38100" dist="38100" dir="2700000" algn="tl">
                    <a:srgbClr val="000000">
                      <a:alpha val="43137"/>
                    </a:srgbClr>
                  </a:outerShdw>
                </a:effectLst>
                <a:latin typeface="Times New Roman" panose="02020603050405020304" pitchFamily="18" charset="0"/>
                <a:ea typeface="Tahoma" pitchFamily="34" charset="0"/>
                <a:cs typeface="Times New Roman" panose="02020603050405020304" pitchFamily="18" charset="0"/>
              </a:rPr>
            </a:br>
            <a:endParaRPr lang="en-US" sz="1800" b="1" i="1" u="sng"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33893" y="1296773"/>
            <a:ext cx="10515600" cy="4661672"/>
          </a:xfrm>
        </p:spPr>
        <p:txBody>
          <a:bodyPr/>
          <a:lstStyle/>
          <a:p>
            <a:pPr marL="0" indent="0" algn="ctr">
              <a:buNone/>
            </a:pPr>
            <a:r>
              <a:rPr lang="en-US" sz="1400" b="1" dirty="0">
                <a:solidFill>
                  <a:srgbClr val="A71180"/>
                </a:solidFill>
                <a:latin typeface="Times New Roman" panose="02020603050405020304" pitchFamily="18" charset="0"/>
                <a:cs typeface="Times New Roman" panose="02020603050405020304" pitchFamily="18" charset="0"/>
              </a:rPr>
              <a:t>Submitted to the Presidency University, Bengaluru in partial fulfillment  for the award of the degree of  Bachelor of Computer Applications(BCA)</a:t>
            </a:r>
          </a:p>
          <a:p>
            <a:pPr marL="0" indent="0" algn="ctr">
              <a:buNone/>
            </a:pPr>
            <a:r>
              <a:rPr lang="en-US" sz="1800" b="1" dirty="0">
                <a:solidFill>
                  <a:srgbClr val="FF0000"/>
                </a:solidFill>
                <a:latin typeface="Times New Roman" panose="02020603050405020304" pitchFamily="18" charset="0"/>
                <a:cs typeface="Times New Roman" panose="02020603050405020304" pitchFamily="18" charset="0"/>
              </a:rPr>
              <a:t>Project Number : 28</a:t>
            </a:r>
          </a:p>
          <a:p>
            <a:pPr marL="0" indent="0" algn="ctr">
              <a:buNone/>
            </a:pPr>
            <a:endParaRPr lang="en-US" sz="1400"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buNone/>
            </a:pPr>
            <a:endParaRPr lang="en-US" sz="1800" b="1" dirty="0">
              <a:solidFill>
                <a:schemeClr val="accent6">
                  <a:lumMod val="7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ctr" eaLnBrk="1" hangingPunct="1">
              <a:buNone/>
              <a:defRPr/>
            </a:pPr>
            <a:br>
              <a:rPr lang="en-US" sz="1400" b="1" dirty="0">
                <a:latin typeface="Times New Roman" panose="02020603050405020304" pitchFamily="18" charset="0"/>
                <a:cs typeface="Times New Roman" panose="02020603050405020304" pitchFamily="18" charset="0"/>
              </a:rPr>
            </a:br>
            <a:br>
              <a:rPr lang="en-US" sz="1050" b="1" dirty="0">
                <a:solidFill>
                  <a:srgbClr val="FF0000"/>
                </a:solidFill>
                <a:latin typeface="Times New Roman" panose="02020603050405020304" pitchFamily="18" charset="0"/>
                <a:cs typeface="Times New Roman" panose="02020603050405020304" pitchFamily="18" charset="0"/>
              </a:rPr>
            </a:br>
            <a:endParaRPr lang="en-IN" sz="2400" b="1" dirty="0">
              <a:solidFill>
                <a:srgbClr val="92D05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440495409"/>
              </p:ext>
            </p:extLst>
          </p:nvPr>
        </p:nvGraphicFramePr>
        <p:xfrm>
          <a:off x="3435224" y="2524760"/>
          <a:ext cx="5321552" cy="1808480"/>
        </p:xfrm>
        <a:graphic>
          <a:graphicData uri="http://schemas.openxmlformats.org/drawingml/2006/table">
            <a:tbl>
              <a:tblPr firstRow="1" bandRow="1">
                <a:tableStyleId>{5C22544A-7EE6-4342-B048-85BDC9FD1C3A}</a:tableStyleId>
              </a:tblPr>
              <a:tblGrid>
                <a:gridCol w="2660776">
                  <a:extLst>
                    <a:ext uri="{9D8B030D-6E8A-4147-A177-3AD203B41FA5}">
                      <a16:colId xmlns:a16="http://schemas.microsoft.com/office/drawing/2014/main" val="2689928737"/>
                    </a:ext>
                  </a:extLst>
                </a:gridCol>
                <a:gridCol w="2660776">
                  <a:extLst>
                    <a:ext uri="{9D8B030D-6E8A-4147-A177-3AD203B41FA5}">
                      <a16:colId xmlns:a16="http://schemas.microsoft.com/office/drawing/2014/main" val="3965538731"/>
                    </a:ext>
                  </a:extLst>
                </a:gridCol>
              </a:tblGrid>
              <a:tr h="425525">
                <a:tc>
                  <a:txBody>
                    <a:bodyPr/>
                    <a:lstStyle/>
                    <a:p>
                      <a:pPr algn="ctr"/>
                      <a:r>
                        <a:rPr lang="en-US" dirty="0">
                          <a:latin typeface="Times New Roman" panose="02020603050405020304" pitchFamily="18" charset="0"/>
                          <a:cs typeface="Times New Roman" panose="02020603050405020304" pitchFamily="18" charset="0"/>
                        </a:rPr>
                        <a:t>Name </a:t>
                      </a:r>
                    </a:p>
                  </a:txBody>
                  <a:tcPr/>
                </a:tc>
                <a:tc>
                  <a:txBody>
                    <a:bodyPr/>
                    <a:lstStyle/>
                    <a:p>
                      <a:pPr algn="ctr"/>
                      <a:r>
                        <a:rPr lang="en-US" dirty="0">
                          <a:latin typeface="Times New Roman" panose="02020603050405020304" pitchFamily="18" charset="0"/>
                          <a:cs typeface="Times New Roman" panose="02020603050405020304" pitchFamily="18" charset="0"/>
                        </a:rPr>
                        <a:t>Roll Number</a:t>
                      </a:r>
                    </a:p>
                  </a:txBody>
                  <a:tcPr/>
                </a:tc>
                <a:extLst>
                  <a:ext uri="{0D108BD9-81ED-4DB2-BD59-A6C34878D82A}">
                    <a16:rowId xmlns:a16="http://schemas.microsoft.com/office/drawing/2014/main" val="2965105319"/>
                  </a:ext>
                </a:extLst>
              </a:tr>
              <a:tr h="1382955">
                <a:tc>
                  <a:txBody>
                    <a:bodyPr/>
                    <a:lstStyle/>
                    <a:p>
                      <a:pPr algn="ctr"/>
                      <a:r>
                        <a:rPr lang="en-US" dirty="0">
                          <a:latin typeface="Times New Roman" panose="02020603050405020304" pitchFamily="18" charset="0"/>
                          <a:cs typeface="Times New Roman" panose="02020603050405020304" pitchFamily="18" charset="0"/>
                        </a:rPr>
                        <a:t>Ganesh V</a:t>
                      </a:r>
                    </a:p>
                    <a:p>
                      <a:pPr algn="ctr"/>
                      <a:r>
                        <a:rPr lang="en-US" dirty="0">
                          <a:latin typeface="Times New Roman" panose="02020603050405020304" pitchFamily="18" charset="0"/>
                          <a:cs typeface="Times New Roman" panose="02020603050405020304" pitchFamily="18" charset="0"/>
                        </a:rPr>
                        <a:t>Vishal</a:t>
                      </a:r>
                    </a:p>
                    <a:p>
                      <a:pPr algn="ctr"/>
                      <a:r>
                        <a:rPr lang="en-US" dirty="0">
                          <a:latin typeface="Times New Roman" panose="02020603050405020304" pitchFamily="18" charset="0"/>
                          <a:cs typeface="Times New Roman" panose="02020603050405020304" pitchFamily="18" charset="0"/>
                        </a:rPr>
                        <a:t>Sandeep Kumar </a:t>
                      </a:r>
                      <a:r>
                        <a:rPr lang="en-US" sz="1800" dirty="0" err="1">
                          <a:latin typeface="Times New Roman" panose="02020603050405020304" pitchFamily="18" charset="0"/>
                          <a:cs typeface="Times New Roman" panose="02020603050405020304" pitchFamily="18" charset="0"/>
                        </a:rPr>
                        <a:t>Mahatho</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Md Fazail Shahid</a:t>
                      </a:r>
                    </a:p>
                  </a:txBody>
                  <a:tcPr/>
                </a:tc>
                <a:tc>
                  <a:txBody>
                    <a:bodyPr/>
                    <a:lstStyle/>
                    <a:p>
                      <a:pPr algn="ctr"/>
                      <a:r>
                        <a:rPr lang="en-US" dirty="0">
                          <a:latin typeface="Times New Roman" panose="02020603050405020304" pitchFamily="18" charset="0"/>
                          <a:cs typeface="Times New Roman" panose="02020603050405020304" pitchFamily="18" charset="0"/>
                        </a:rPr>
                        <a:t>20241BCA0107</a:t>
                      </a:r>
                    </a:p>
                    <a:p>
                      <a:pPr algn="ctr"/>
                      <a:r>
                        <a:rPr lang="en-US" dirty="0">
                          <a:latin typeface="Times New Roman" panose="02020603050405020304" pitchFamily="18" charset="0"/>
                          <a:cs typeface="Times New Roman" panose="02020603050405020304" pitchFamily="18" charset="0"/>
                        </a:rPr>
                        <a:t>20241BCA0159</a:t>
                      </a:r>
                    </a:p>
                    <a:p>
                      <a:pPr algn="ctr"/>
                      <a:r>
                        <a:rPr lang="en-US" dirty="0">
                          <a:latin typeface="Times New Roman" panose="02020603050405020304" pitchFamily="18" charset="0"/>
                          <a:cs typeface="Times New Roman" panose="02020603050405020304" pitchFamily="18" charset="0"/>
                        </a:rPr>
                        <a:t>20241BCA0143</a:t>
                      </a:r>
                    </a:p>
                    <a:p>
                      <a:pPr algn="ctr"/>
                      <a:r>
                        <a:rPr lang="en-US" dirty="0">
                          <a:latin typeface="Times New Roman" panose="02020603050405020304" pitchFamily="18" charset="0"/>
                          <a:cs typeface="Times New Roman" panose="02020603050405020304" pitchFamily="18" charset="0"/>
                        </a:rPr>
                        <a:t>20241BCA0109</a:t>
                      </a:r>
                    </a:p>
                  </a:txBody>
                  <a:tcPr/>
                </a:tc>
                <a:extLst>
                  <a:ext uri="{0D108BD9-81ED-4DB2-BD59-A6C34878D82A}">
                    <a16:rowId xmlns:a16="http://schemas.microsoft.com/office/drawing/2014/main" val="673540802"/>
                  </a:ext>
                </a:extLst>
              </a:tr>
            </a:tbl>
          </a:graphicData>
        </a:graphic>
      </p:graphicFrame>
    </p:spTree>
    <p:extLst>
      <p:ext uri="{BB962C8B-B14F-4D97-AF65-F5344CB8AC3E}">
        <p14:creationId xmlns:p14="http://schemas.microsoft.com/office/powerpoint/2010/main" val="947468273"/>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Content</a:t>
            </a: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609600" indent="-457200">
              <a:lnSpc>
                <a:spcPct val="200000"/>
              </a:lnSpc>
              <a:spcBef>
                <a:spcPts val="0"/>
              </a:spcBef>
            </a:pPr>
            <a:r>
              <a:rPr lang="en-US" dirty="0">
                <a:latin typeface="Cambria" panose="02040503050406030204" pitchFamily="18" charset="0"/>
                <a:ea typeface="Cambria" panose="02040503050406030204" pitchFamily="18" charset="0"/>
              </a:rPr>
              <a:t>Problem Statement</a:t>
            </a:r>
          </a:p>
          <a:p>
            <a:pPr marL="609600" indent="-457200">
              <a:lnSpc>
                <a:spcPct val="200000"/>
              </a:lnSpc>
              <a:spcBef>
                <a:spcPts val="0"/>
              </a:spcBef>
            </a:pPr>
            <a:r>
              <a:rPr lang="en-US" dirty="0">
                <a:latin typeface="Cambria" panose="02040503050406030204" pitchFamily="18" charset="0"/>
                <a:ea typeface="Cambria" panose="02040503050406030204" pitchFamily="18" charset="0"/>
              </a:rPr>
              <a:t>SAMPLE LITERATURE REVIEW</a:t>
            </a:r>
          </a:p>
          <a:p>
            <a:pPr marL="609600" indent="-457200">
              <a:lnSpc>
                <a:spcPct val="200000"/>
              </a:lnSpc>
              <a:spcBef>
                <a:spcPts val="0"/>
              </a:spcBef>
            </a:pPr>
            <a:r>
              <a:rPr lang="en-US" dirty="0">
                <a:latin typeface="Cambria" panose="02040503050406030204" pitchFamily="18" charset="0"/>
                <a:ea typeface="Cambria" panose="02040503050406030204" pitchFamily="18" charset="0"/>
              </a:rPr>
              <a:t>Tools and Technologies to be used</a:t>
            </a:r>
          </a:p>
          <a:p>
            <a:pPr marL="609600" indent="-457200">
              <a:lnSpc>
                <a:spcPct val="200000"/>
              </a:lnSpc>
              <a:spcBef>
                <a:spcPts val="0"/>
              </a:spcBef>
              <a:spcAft>
                <a:spcPts val="0"/>
              </a:spcAft>
              <a:buClr>
                <a:schemeClr val="dk1"/>
              </a:buClr>
              <a:buSzPts val="2400"/>
            </a:pPr>
            <a:r>
              <a:rPr lang="en-US" dirty="0">
                <a:latin typeface="Cambria" panose="02040503050406030204" pitchFamily="18" charset="0"/>
                <a:ea typeface="Cambria" panose="02040503050406030204" pitchFamily="18" charset="0"/>
              </a:rPr>
              <a:t>Timeline of the Project</a:t>
            </a:r>
          </a:p>
          <a:p>
            <a:pPr marL="495300" lvl="0" indent="-342900"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Problem Statement</a:t>
            </a:r>
            <a:endParaRPr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00317CE0-94D4-BCB9-D348-4A6AC6EDE798}"/>
              </a:ext>
            </a:extLst>
          </p:cNvPr>
          <p:cNvSpPr>
            <a:spLocks noGrp="1" noChangeArrowheads="1"/>
          </p:cNvSpPr>
          <p:nvPr>
            <p:ph type="body" idx="1"/>
          </p:nvPr>
        </p:nvSpPr>
        <p:spPr bwMode="auto">
          <a:xfrm>
            <a:off x="1021316" y="983101"/>
            <a:ext cx="10149367"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spcBef>
                <a:spcPct val="0"/>
              </a:spcBef>
            </a:pPr>
            <a:r>
              <a:rPr lang="en-IN" sz="2400" dirty="0"/>
              <a:t>Students have different technical and non-technical skills.</a:t>
            </a:r>
            <a:endParaRPr lang="en-US" altLang="en-US" sz="2400" dirty="0">
              <a:solidFill>
                <a:schemeClr val="dk1"/>
              </a:solidFill>
              <a:latin typeface="Cambria" panose="02040503050406030204" pitchFamily="18" charset="0"/>
              <a:ea typeface="Cambria" panose="02040503050406030204" pitchFamily="18" charset="0"/>
              <a:sym typeface="Verdana"/>
            </a:endParaRPr>
          </a:p>
          <a:p>
            <a:pPr algn="just">
              <a:spcBef>
                <a:spcPct val="0"/>
              </a:spcBef>
            </a:pPr>
            <a:r>
              <a:rPr lang="en-IN" sz="2400" dirty="0"/>
              <a:t>Many students want to learn new skills but cannot find the right person to teach them.</a:t>
            </a:r>
            <a:endParaRPr lang="en-US" altLang="en-US" sz="2400" dirty="0">
              <a:solidFill>
                <a:schemeClr val="dk1"/>
              </a:solidFill>
              <a:latin typeface="Cambria" panose="02040503050406030204" pitchFamily="18" charset="0"/>
              <a:ea typeface="Cambria" panose="02040503050406030204" pitchFamily="18" charset="0"/>
              <a:sym typeface="Verdana"/>
            </a:endParaRPr>
          </a:p>
          <a:p>
            <a:pPr algn="just">
              <a:spcBef>
                <a:spcPct val="0"/>
              </a:spcBef>
            </a:pPr>
            <a:r>
              <a:rPr lang="en-IN" sz="2400" dirty="0"/>
              <a:t>Existing learning platforms often require payment.</a:t>
            </a:r>
            <a:endParaRPr lang="en-US" altLang="en-US" sz="2400" dirty="0">
              <a:solidFill>
                <a:schemeClr val="dk1"/>
              </a:solidFill>
              <a:latin typeface="Cambria" panose="02040503050406030204" pitchFamily="18" charset="0"/>
              <a:ea typeface="Cambria" panose="02040503050406030204" pitchFamily="18" charset="0"/>
              <a:sym typeface="Verdana"/>
            </a:endParaRPr>
          </a:p>
          <a:p>
            <a:pPr algn="just">
              <a:spcBef>
                <a:spcPct val="0"/>
              </a:spcBef>
            </a:pPr>
            <a:r>
              <a:rPr lang="en-IN" sz="2400" dirty="0"/>
              <a:t>There is no simple platform specifically designed for students to exchange skills. </a:t>
            </a:r>
          </a:p>
          <a:p>
            <a:pPr algn="just">
              <a:spcBef>
                <a:spcPct val="0"/>
              </a:spcBef>
            </a:pPr>
            <a:r>
              <a:rPr lang="en-IN" sz="2400" dirty="0"/>
              <a:t>Students face difficulty finding learning partners based on their skills and interests. </a:t>
            </a:r>
          </a:p>
          <a:p>
            <a:pPr algn="just">
              <a:spcBef>
                <a:spcPct val="0"/>
              </a:spcBef>
            </a:pPr>
            <a:r>
              <a:rPr lang="en-IN" sz="2400" dirty="0"/>
              <a:t>The proposed system allows students to </a:t>
            </a:r>
            <a:r>
              <a:rPr lang="en-IN" sz="2400" b="1" dirty="0"/>
              <a:t>teach the skills they know and learn the skills they need</a:t>
            </a:r>
            <a:r>
              <a:rPr lang="en-IN" sz="2400" dirty="0"/>
              <a:t>.</a:t>
            </a:r>
          </a:p>
          <a:p>
            <a:pPr algn="just">
              <a:spcBef>
                <a:spcPct val="0"/>
              </a:spcBef>
            </a:pPr>
            <a:r>
              <a:rPr lang="en-IN" sz="2400" dirty="0"/>
              <a:t>It provides a platform for skill matching, communication, and peer-to-peer learning. </a:t>
            </a:r>
          </a:p>
          <a:p>
            <a:pPr marL="542925" lvl="0" indent="-542925" algn="just">
              <a:spcBef>
                <a:spcPct val="0"/>
              </a:spcBef>
              <a:buFont typeface="Wingdings" panose="05000000000000000000" pitchFamily="2" charset="2"/>
              <a:buChar char="Ø"/>
            </a:pPr>
            <a:endParaRPr lang="en-US" altLang="en-US" sz="2400" dirty="0">
              <a:solidFill>
                <a:schemeClr val="dk1"/>
              </a:solidFill>
              <a:latin typeface="Cambria" panose="02040503050406030204" pitchFamily="18" charset="0"/>
              <a:ea typeface="Cambria" panose="02040503050406030204" pitchFamily="18" charset="0"/>
              <a:sym typeface="Verdana"/>
            </a:endParaRPr>
          </a:p>
        </p:txBody>
      </p:sp>
    </p:spTree>
    <p:extLst>
      <p:ext uri="{BB962C8B-B14F-4D97-AF65-F5344CB8AC3E}">
        <p14:creationId xmlns:p14="http://schemas.microsoft.com/office/powerpoint/2010/main" val="2143451837"/>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6FC717-855D-29E5-16CB-275C605E6AE3}"/>
              </a:ext>
            </a:extLst>
          </p:cNvPr>
          <p:cNvSpPr/>
          <p:nvPr/>
        </p:nvSpPr>
        <p:spPr>
          <a:xfrm>
            <a:off x="1967541" y="0"/>
            <a:ext cx="8256917" cy="769441"/>
          </a:xfrm>
          <a:prstGeom prst="rect">
            <a:avLst/>
          </a:prstGeom>
        </p:spPr>
        <p:txBody>
          <a:bodyPr wrap="square">
            <a:spAutoFit/>
          </a:bodyPr>
          <a:lstStyle/>
          <a:p>
            <a:pPr algn="ctr"/>
            <a:r>
              <a:rPr lang="en-US" sz="4400"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mj-cs"/>
              </a:rPr>
              <a:t>SAMPLE LITERATURE REVIEW</a:t>
            </a:r>
          </a:p>
        </p:txBody>
      </p:sp>
      <p:sp>
        <p:nvSpPr>
          <p:cNvPr id="2" name="TextBox 1">
            <a:extLst>
              <a:ext uri="{FF2B5EF4-FFF2-40B4-BE49-F238E27FC236}">
                <a16:creationId xmlns:a16="http://schemas.microsoft.com/office/drawing/2014/main" id="{FC23F780-135C-002D-8C8E-4EF4D3AC83CD}"/>
              </a:ext>
            </a:extLst>
          </p:cNvPr>
          <p:cNvSpPr txBox="1"/>
          <p:nvPr/>
        </p:nvSpPr>
        <p:spPr>
          <a:xfrm>
            <a:off x="1193176" y="681134"/>
            <a:ext cx="10077061" cy="4626908"/>
          </a:xfrm>
          <a:prstGeom prst="rect">
            <a:avLst/>
          </a:prstGeom>
          <a:noFill/>
        </p:spPr>
        <p:txBody>
          <a:bodyPr wrap="square" rtlCol="0">
            <a:spAutoFit/>
          </a:bodyPr>
          <a:lstStyle/>
          <a:p>
            <a:pPr algn="ctr">
              <a:spcAft>
                <a:spcPts val="400"/>
              </a:spcAft>
              <a:defRPr sz="1400" b="1">
                <a:solidFill>
                  <a:srgbClr val="0F2240"/>
                </a:solidFill>
              </a:defRPr>
            </a:pPr>
            <a:r>
              <a:rPr lang="en-IN" sz="2400" dirty="0">
                <a:solidFill>
                  <a:srgbClr val="002060"/>
                </a:solidFill>
              </a:rPr>
              <a:t>Theme 1: Architectural Foundations of Skill Swap Platforms</a:t>
            </a:r>
          </a:p>
          <a:p>
            <a:pPr>
              <a:spcAft>
                <a:spcPts val="600"/>
              </a:spcAft>
              <a:defRPr sz="1100">
                <a:solidFill>
                  <a:srgbClr val="282828"/>
                </a:solidFill>
              </a:defRPr>
            </a:pPr>
            <a:r>
              <a:rPr lang="en-IN" sz="1400" dirty="0">
                <a:latin typeface="Calibri (Body)"/>
              </a:rPr>
              <a:t>Establishes that replacing traditional cash transactions with non-monetary peer ecosystems drastically reduces accessibility barriers. Demonstrates that building on full-stack frameworks (MERN) matches requirements for scalable profile indexes and secure real-time partner discovery workflows.</a:t>
            </a:r>
          </a:p>
          <a:p>
            <a:pPr>
              <a:defRPr sz="1000" i="1">
                <a:solidFill>
                  <a:srgbClr val="107C41"/>
                </a:solidFill>
              </a:defRPr>
            </a:pPr>
            <a:r>
              <a:rPr lang="en-IN" sz="1400" dirty="0">
                <a:latin typeface="Calibri (Body)"/>
              </a:rPr>
              <a:t>Authors: Aniket Eknath Pawar, Kasturi Nikumbh, Reshma Vishwas Gade, Sakshi Vijay </a:t>
            </a:r>
            <a:r>
              <a:rPr lang="en-IN" sz="1400" dirty="0" err="1">
                <a:latin typeface="Calibri (Body)"/>
              </a:rPr>
              <a:t>Patade</a:t>
            </a:r>
            <a:r>
              <a:rPr lang="en-IN" sz="1400" dirty="0">
                <a:latin typeface="Calibri (Body)"/>
              </a:rPr>
              <a:t>, Priyanka Arun Rokade (2026)</a:t>
            </a:r>
          </a:p>
          <a:p>
            <a:pPr>
              <a:defRPr sz="900">
                <a:solidFill>
                  <a:srgbClr val="646464"/>
                </a:solidFill>
              </a:defRPr>
            </a:pPr>
            <a:r>
              <a:rPr lang="en-IN" sz="1400" dirty="0">
                <a:latin typeface="Calibri (Body)"/>
              </a:rPr>
              <a:t>Source: ResearchGate Academic Repository</a:t>
            </a:r>
            <a:br>
              <a:rPr lang="en-IN" sz="1400" dirty="0">
                <a:latin typeface="Calibri (Body)"/>
              </a:rPr>
            </a:br>
            <a:r>
              <a:rPr lang="en-IN" sz="1400" dirty="0">
                <a:latin typeface="Calibri (Body)"/>
              </a:rPr>
              <a:t>URL: https://www.researchgate.net/publication/407081355_SKILL-SWAP_PLATFORM_Peer_to_peer_skill_exchange_system</a:t>
            </a:r>
          </a:p>
          <a:p>
            <a:endParaRPr lang="en-IN" sz="2400" dirty="0"/>
          </a:p>
          <a:p>
            <a:pPr algn="ctr">
              <a:spcAft>
                <a:spcPts val="400"/>
              </a:spcAft>
              <a:defRPr sz="1400" b="1">
                <a:solidFill>
                  <a:srgbClr val="0F2240"/>
                </a:solidFill>
              </a:defRPr>
            </a:pPr>
            <a:r>
              <a:rPr lang="en-US" sz="2400" dirty="0">
                <a:solidFill>
                  <a:srgbClr val="002060"/>
                </a:solidFill>
              </a:rPr>
              <a:t>Theme 2: Collaborative Multi-Role Peer-to-Peer Learning Systems</a:t>
            </a:r>
          </a:p>
          <a:p>
            <a:pPr>
              <a:spcAft>
                <a:spcPts val="600"/>
              </a:spcAft>
              <a:defRPr sz="1100">
                <a:solidFill>
                  <a:srgbClr val="282828"/>
                </a:solidFill>
              </a:defRPr>
            </a:pPr>
            <a:r>
              <a:rPr lang="en-US" sz="1400" dirty="0"/>
              <a:t>Validates that dynamic dual-role networks (where users toggle seamlessly between mentor and learner states) encourage collaborative habits and retain knowledge better than standard one-way lectures. Proves the necessity of integrating lightweight async </a:t>
            </a:r>
            <a:r>
              <a:rPr lang="en-US" sz="1400" dirty="0" err="1"/>
              <a:t>WebSockets</a:t>
            </a:r>
            <a:r>
              <a:rPr lang="en-US" sz="1400" dirty="0"/>
              <a:t> for instantly bridging knowledge gaps.</a:t>
            </a:r>
          </a:p>
          <a:p>
            <a:pPr>
              <a:defRPr sz="1000" i="1">
                <a:solidFill>
                  <a:srgbClr val="107C41"/>
                </a:solidFill>
              </a:defRPr>
            </a:pPr>
            <a:r>
              <a:rPr lang="en-US" sz="1400" dirty="0"/>
              <a:t>Authors: Educational Technology Frameworks &amp; Pedagogical Research Cohorts (2026)</a:t>
            </a:r>
          </a:p>
          <a:p>
            <a:pPr>
              <a:defRPr sz="900">
                <a:solidFill>
                  <a:srgbClr val="646464"/>
                </a:solidFill>
              </a:defRPr>
            </a:pPr>
            <a:r>
              <a:rPr lang="en-US" sz="1400" dirty="0"/>
              <a:t>Source: 21st Century School Instructional Analysis Design</a:t>
            </a:r>
            <a:br>
              <a:rPr lang="en-US" sz="1400" dirty="0"/>
            </a:br>
            <a:r>
              <a:rPr lang="en-US" sz="1400" dirty="0"/>
              <a:t>URL: https://www.21kschool.com/in/blog/examples-of-peer-learning-activities/</a:t>
            </a:r>
          </a:p>
          <a:p>
            <a:endParaRPr lang="en-IN" sz="1400" dirty="0"/>
          </a:p>
          <a:p>
            <a:endParaRPr lang="en-IN" sz="2400" dirty="0"/>
          </a:p>
        </p:txBody>
      </p:sp>
    </p:spTree>
    <p:extLst>
      <p:ext uri="{BB962C8B-B14F-4D97-AF65-F5344CB8AC3E}">
        <p14:creationId xmlns:p14="http://schemas.microsoft.com/office/powerpoint/2010/main" val="440072185"/>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2AF7-4445-4C0F-225B-2012C6BA94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238856-B01F-94B5-E985-5DB2B886FEF4}"/>
              </a:ext>
            </a:extLst>
          </p:cNvPr>
          <p:cNvSpPr txBox="1"/>
          <p:nvPr/>
        </p:nvSpPr>
        <p:spPr>
          <a:xfrm>
            <a:off x="1156996" y="769441"/>
            <a:ext cx="9181322" cy="4996240"/>
          </a:xfrm>
          <a:prstGeom prst="rect">
            <a:avLst/>
          </a:prstGeom>
          <a:noFill/>
        </p:spPr>
        <p:txBody>
          <a:bodyPr wrap="square">
            <a:spAutoFit/>
          </a:bodyPr>
          <a:lstStyle/>
          <a:p>
            <a:pPr algn="ctr">
              <a:spcAft>
                <a:spcPts val="400"/>
              </a:spcAft>
              <a:defRPr sz="1400" b="1">
                <a:solidFill>
                  <a:srgbClr val="0F2240"/>
                </a:solidFill>
              </a:defRPr>
            </a:pPr>
            <a:r>
              <a:rPr lang="en-IN" sz="2400" dirty="0">
                <a:solidFill>
                  <a:srgbClr val="002060"/>
                </a:solidFill>
              </a:rPr>
              <a:t>Theme 3: Request Pipelines in Skill-Based Barter Ecosystems</a:t>
            </a:r>
          </a:p>
          <a:p>
            <a:pPr>
              <a:spcAft>
                <a:spcPts val="600"/>
              </a:spcAft>
              <a:defRPr sz="1100">
                <a:solidFill>
                  <a:srgbClr val="282828"/>
                </a:solidFill>
              </a:defRPr>
            </a:pPr>
            <a:r>
              <a:rPr lang="en-IN" sz="1400" dirty="0"/>
              <a:t>Investigates systematic request-response handshakes to avoid scheduling deadlocks. Proves that structured database state logic (Pending -&gt; Active -&gt; Resolved states) creates a transparent transaction log for matching technical assets (e.g., coding) with creative assets (e.g., UI design).</a:t>
            </a:r>
          </a:p>
          <a:p>
            <a:pPr>
              <a:defRPr sz="1000" i="1">
                <a:solidFill>
                  <a:srgbClr val="107C41"/>
                </a:solidFill>
              </a:defRPr>
            </a:pPr>
            <a:r>
              <a:rPr lang="en-IN" sz="1400" dirty="0"/>
              <a:t>Authors: Software Engineering Network Protocol Authors (2026)</a:t>
            </a:r>
          </a:p>
          <a:p>
            <a:pPr>
              <a:defRPr sz="900">
                <a:solidFill>
                  <a:srgbClr val="646464"/>
                </a:solidFill>
              </a:defRPr>
            </a:pPr>
            <a:r>
              <a:rPr lang="en-IN" sz="1400" dirty="0"/>
              <a:t>Source: Journal of Emerging Technologies and Innovative Research (JETIR)</a:t>
            </a:r>
            <a:br>
              <a:rPr lang="en-IN" sz="1400" dirty="0"/>
            </a:br>
            <a:r>
              <a:rPr lang="en-IN" sz="1400" dirty="0"/>
              <a:t>URL: https://www.jetir.org/download1.php?file=JETIRHQ06120.pdf</a:t>
            </a:r>
          </a:p>
          <a:p>
            <a:pPr lvl="1"/>
            <a:endParaRPr lang="en-IN" sz="2400" dirty="0"/>
          </a:p>
          <a:p>
            <a:pPr algn="ctr">
              <a:spcAft>
                <a:spcPts val="400"/>
              </a:spcAft>
              <a:defRPr sz="1400" b="1">
                <a:solidFill>
                  <a:srgbClr val="0F2240"/>
                </a:solidFill>
              </a:defRPr>
            </a:pPr>
            <a:r>
              <a:rPr lang="en-US" sz="2400" dirty="0">
                <a:solidFill>
                  <a:srgbClr val="002060"/>
                </a:solidFill>
              </a:rPr>
              <a:t>Theme 4: Structured Management Frameworks (The </a:t>
            </a:r>
            <a:r>
              <a:rPr lang="en-US" sz="2400" dirty="0" err="1">
                <a:solidFill>
                  <a:srgbClr val="002060"/>
                </a:solidFill>
              </a:rPr>
              <a:t>LearnXChange</a:t>
            </a:r>
            <a:r>
              <a:rPr lang="en-US" sz="2400" dirty="0">
                <a:solidFill>
                  <a:srgbClr val="002060"/>
                </a:solidFill>
              </a:rPr>
              <a:t> Architecture)</a:t>
            </a:r>
          </a:p>
          <a:p>
            <a:pPr>
              <a:spcAft>
                <a:spcPts val="600"/>
              </a:spcAft>
              <a:defRPr sz="1100">
                <a:solidFill>
                  <a:srgbClr val="282828"/>
                </a:solidFill>
              </a:defRPr>
            </a:pPr>
            <a:r>
              <a:rPr lang="en-US" sz="1400" dirty="0"/>
              <a:t>Examines a comprehensive community exchange matrix detailing profile mapping, integrated scheduler logs, and user performance reviews. Asserts that transparent rating features directly improve safety, mitigate bad behavior, and guarantee quality control across unmoderated distributed learning portals. Validates the deployment of centralized cloud databases like MongoDB Atlas for data organization.</a:t>
            </a:r>
          </a:p>
          <a:p>
            <a:pPr>
              <a:defRPr sz="1000" i="1">
                <a:solidFill>
                  <a:srgbClr val="107C41"/>
                </a:solidFill>
              </a:defRPr>
            </a:pPr>
            <a:r>
              <a:rPr lang="en-US" sz="1400" dirty="0"/>
              <a:t>Authors: P. </a:t>
            </a:r>
            <a:r>
              <a:rPr lang="en-US" sz="1400" dirty="0" err="1"/>
              <a:t>Deokar</a:t>
            </a:r>
            <a:r>
              <a:rPr lang="en-US" sz="1400" dirty="0"/>
              <a:t>, et al. (2026)</a:t>
            </a:r>
          </a:p>
          <a:p>
            <a:pPr>
              <a:defRPr sz="900">
                <a:solidFill>
                  <a:srgbClr val="646464"/>
                </a:solidFill>
              </a:defRPr>
            </a:pPr>
            <a:r>
              <a:rPr lang="en-US" sz="1400" dirty="0"/>
              <a:t>Source: </a:t>
            </a:r>
            <a:r>
              <a:rPr lang="en-US" sz="1400" dirty="0" err="1"/>
              <a:t>Zenodo</a:t>
            </a:r>
            <a:r>
              <a:rPr lang="en-US" sz="1400" dirty="0"/>
              <a:t> Open-Science Repository / Journal of Advancement in Software Engineering and Testing</a:t>
            </a:r>
            <a:br>
              <a:rPr lang="en-US" sz="1400" dirty="0"/>
            </a:br>
            <a:r>
              <a:rPr lang="en-US" sz="1400" dirty="0"/>
              <a:t>URL: https://zenodo.org/records/18767798 | http://hbrppublication.com/OJS/index.php/JASET/article/view/9324</a:t>
            </a:r>
          </a:p>
          <a:p>
            <a:pPr lvl="1"/>
            <a:endParaRPr lang="en-IN" sz="2400" dirty="0"/>
          </a:p>
        </p:txBody>
      </p:sp>
    </p:spTree>
    <p:extLst>
      <p:ext uri="{BB962C8B-B14F-4D97-AF65-F5344CB8AC3E}">
        <p14:creationId xmlns:p14="http://schemas.microsoft.com/office/powerpoint/2010/main" val="2438272818"/>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3AA53-10AC-3D81-A434-59B14749EFCC}"/>
              </a:ext>
            </a:extLst>
          </p:cNvPr>
          <p:cNvSpPr>
            <a:spLocks noGrp="1"/>
          </p:cNvSpPr>
          <p:nvPr>
            <p:ph idx="1"/>
          </p:nvPr>
        </p:nvSpPr>
        <p:spPr>
          <a:xfrm>
            <a:off x="838200" y="677959"/>
            <a:ext cx="10515600" cy="4351338"/>
          </a:xfrm>
        </p:spPr>
        <p:txBody>
          <a:bodyPr/>
          <a:lstStyle/>
          <a:p>
            <a:pPr marL="0" indent="0" algn="ctr">
              <a:spcAft>
                <a:spcPts val="400"/>
              </a:spcAft>
              <a:buNone/>
              <a:defRPr sz="1400" b="1">
                <a:solidFill>
                  <a:srgbClr val="0F2240"/>
                </a:solidFill>
              </a:defRPr>
            </a:pPr>
            <a:r>
              <a:rPr lang="en-US" sz="2400" dirty="0">
                <a:solidFill>
                  <a:srgbClr val="002060"/>
                </a:solidFill>
              </a:rPr>
              <a:t>Theme 5: Academic Validation and Pedagogical Impacts of Peer Instruction</a:t>
            </a:r>
          </a:p>
          <a:p>
            <a:pPr marL="0" indent="0">
              <a:spcAft>
                <a:spcPts val="600"/>
              </a:spcAft>
              <a:buNone/>
              <a:defRPr sz="1100">
                <a:solidFill>
                  <a:srgbClr val="282828"/>
                </a:solidFill>
              </a:defRPr>
            </a:pPr>
            <a:r>
              <a:rPr lang="en-US" sz="1400" dirty="0"/>
              <a:t>Provides historical confirmation that students assimilate complex concepts with higher clarity when taught by immediate campus peers using shared contextual phrasing. Proves that active peer instruction triggers higher interactive participation rates, improves grade point metrics, and establishes self-confidence.</a:t>
            </a:r>
          </a:p>
          <a:p>
            <a:pPr marL="0" indent="0">
              <a:buNone/>
              <a:defRPr sz="1000" i="1">
                <a:solidFill>
                  <a:srgbClr val="107C41"/>
                </a:solidFill>
              </a:defRPr>
            </a:pPr>
            <a:r>
              <a:rPr lang="en-US" sz="1400" dirty="0"/>
              <a:t>Authors: Meta-Analysis of Project-Based Learning (</a:t>
            </a:r>
            <a:r>
              <a:rPr lang="en-US" sz="1400" dirty="0" err="1"/>
              <a:t>PjBL</a:t>
            </a:r>
            <a:r>
              <a:rPr lang="en-US" sz="1400" dirty="0"/>
              <a:t>) Environments (2026)</a:t>
            </a:r>
          </a:p>
          <a:p>
            <a:pPr marL="0" indent="0">
              <a:buNone/>
              <a:defRPr sz="900">
                <a:solidFill>
                  <a:srgbClr val="646464"/>
                </a:solidFill>
              </a:defRPr>
            </a:pPr>
            <a:r>
              <a:rPr lang="en-US" sz="1400" dirty="0"/>
              <a:t>Source: ResearchGate Academic Databases (Classroom Instruction Systematic Review)</a:t>
            </a:r>
            <a:br>
              <a:rPr lang="en-US" sz="1400" dirty="0"/>
            </a:br>
            <a:r>
              <a:rPr lang="en-US" sz="1400" dirty="0"/>
              <a:t>URL: https://www.researchgate.net/publication/379632645_Systematic_Literature_Review_SLR_Implementation_of_The_Project-Based_Learning_PJBL_Approach_to_Improve_Students'_Speaking_Skills</a:t>
            </a:r>
          </a:p>
          <a:p>
            <a:pPr marL="0" indent="0">
              <a:buNone/>
            </a:pPr>
            <a:endParaRPr lang="en-IN" dirty="0"/>
          </a:p>
        </p:txBody>
      </p:sp>
      <p:sp>
        <p:nvSpPr>
          <p:cNvPr id="4" name="Slide Number Placeholder 3">
            <a:extLst>
              <a:ext uri="{FF2B5EF4-FFF2-40B4-BE49-F238E27FC236}">
                <a16:creationId xmlns:a16="http://schemas.microsoft.com/office/drawing/2014/main" id="{61434D09-7770-EA78-FAAF-E8FDAA47A96D}"/>
              </a:ext>
            </a:extLst>
          </p:cNvPr>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3605577342"/>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F43742D-E782-7B2B-477C-FB389773DDB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3B9198E-092A-9BA4-E770-B551D722C950}"/>
              </a:ext>
            </a:extLst>
          </p:cNvPr>
          <p:cNvSpPr txBox="1">
            <a:spLocks noGrp="1"/>
          </p:cNvSpPr>
          <p:nvPr>
            <p:ph type="title"/>
          </p:nvPr>
        </p:nvSpPr>
        <p:spPr>
          <a:xfrm>
            <a:off x="762000" y="184305"/>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Module Design</a:t>
            </a:r>
            <a:endParaRPr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0BF7F58-9372-1CA6-DEF0-1718E64B39F3}"/>
              </a:ext>
            </a:extLst>
          </p:cNvPr>
          <p:cNvSpPr txBox="1"/>
          <p:nvPr/>
        </p:nvSpPr>
        <p:spPr>
          <a:xfrm>
            <a:off x="925434" y="671805"/>
            <a:ext cx="10924444" cy="5632311"/>
          </a:xfrm>
          <a:prstGeom prst="rect">
            <a:avLst/>
          </a:prstGeom>
          <a:noFill/>
        </p:spPr>
        <p:txBody>
          <a:bodyPr wrap="square">
            <a:spAutoFit/>
          </a:bodyPr>
          <a:lstStyle/>
          <a:p>
            <a:r>
              <a:rPr lang="en-IN" sz="2400" b="1" dirty="0">
                <a:solidFill>
                  <a:srgbClr val="002060"/>
                </a:solidFill>
              </a:rPr>
              <a:t>Brief Overview of the Project’s Modular Architecture</a:t>
            </a:r>
          </a:p>
          <a:p>
            <a:pPr marL="342900" lvl="0" indent="-342900">
              <a:buFont typeface="Arial" panose="020B0604020202020204" pitchFamily="34" charset="0"/>
              <a:buChar char="•"/>
            </a:pPr>
            <a:r>
              <a:rPr lang="en-IN" sz="2400" dirty="0"/>
              <a:t>The </a:t>
            </a:r>
            <a:r>
              <a:rPr lang="en-IN" sz="2400" b="1" dirty="0"/>
              <a:t>Student Skill Exchange</a:t>
            </a:r>
            <a:r>
              <a:rPr lang="en-IN" sz="2400" dirty="0"/>
              <a:t> project is divided into multiple independent modules. </a:t>
            </a:r>
          </a:p>
          <a:p>
            <a:pPr marL="342900" lvl="0" indent="-342900">
              <a:buFont typeface="Arial" panose="020B0604020202020204" pitchFamily="34" charset="0"/>
              <a:buChar char="•"/>
            </a:pPr>
            <a:r>
              <a:rPr lang="en-IN" sz="2400" dirty="0"/>
              <a:t>Each module performs a specific function of the system. </a:t>
            </a:r>
          </a:p>
          <a:p>
            <a:pPr marL="342900" lvl="0" indent="-342900">
              <a:buFont typeface="Arial" panose="020B0604020202020204" pitchFamily="34" charset="0"/>
              <a:buChar char="•"/>
            </a:pPr>
            <a:r>
              <a:rPr lang="en-IN" sz="2400" dirty="0"/>
              <a:t>The modules work together to provide a complete skill-sharing platform. </a:t>
            </a:r>
          </a:p>
          <a:p>
            <a:pPr marL="342900" lvl="0" indent="-342900">
              <a:buFont typeface="Arial" panose="020B0604020202020204" pitchFamily="34" charset="0"/>
              <a:buChar char="•"/>
            </a:pPr>
            <a:r>
              <a:rPr lang="en-IN" sz="2400" dirty="0"/>
              <a:t>The architecture makes the system easier to </a:t>
            </a:r>
            <a:r>
              <a:rPr lang="en-IN" sz="2400" b="1" dirty="0"/>
              <a:t>develop, test, maintain, and upgrade</a:t>
            </a:r>
            <a:r>
              <a:rPr lang="en-IN" sz="2400" dirty="0"/>
              <a:t>.</a:t>
            </a:r>
          </a:p>
          <a:p>
            <a:pPr lvl="0"/>
            <a:endParaRPr lang="en-IN" sz="1050" dirty="0"/>
          </a:p>
          <a:p>
            <a:r>
              <a:rPr lang="en-IN" sz="2400" b="1" dirty="0">
                <a:solidFill>
                  <a:srgbClr val="002060"/>
                </a:solidFill>
              </a:rPr>
              <a:t>Purpose of Dividing the Project into Modules</a:t>
            </a:r>
          </a:p>
          <a:p>
            <a:pPr marL="342900" lvl="0" indent="-342900">
              <a:buFont typeface="Arial" panose="020B0604020202020204" pitchFamily="34" charset="0"/>
              <a:buChar char="•"/>
            </a:pPr>
            <a:r>
              <a:rPr lang="en-IN" sz="2400" dirty="0"/>
              <a:t>To divide the project into smaller and manageable parts. </a:t>
            </a:r>
          </a:p>
          <a:p>
            <a:pPr marL="342900" lvl="0" indent="-342900">
              <a:buFont typeface="Arial" panose="020B0604020202020204" pitchFamily="34" charset="0"/>
              <a:buChar char="•"/>
            </a:pPr>
            <a:r>
              <a:rPr lang="en-IN" sz="2400" dirty="0"/>
              <a:t>To make development easier and faster. </a:t>
            </a:r>
          </a:p>
          <a:p>
            <a:pPr marL="342900" lvl="0" indent="-342900">
              <a:buFont typeface="Arial" panose="020B0604020202020204" pitchFamily="34" charset="0"/>
              <a:buChar char="•"/>
            </a:pPr>
            <a:r>
              <a:rPr lang="en-IN" sz="2400" dirty="0"/>
              <a:t>To simplify testing and debugging. </a:t>
            </a:r>
          </a:p>
          <a:p>
            <a:pPr marL="342900" lvl="0" indent="-342900">
              <a:buFont typeface="Arial" panose="020B0604020202020204" pitchFamily="34" charset="0"/>
              <a:buChar char="•"/>
            </a:pPr>
            <a:r>
              <a:rPr lang="en-IN" sz="2400" dirty="0"/>
              <a:t>To improve system maintenance. </a:t>
            </a:r>
          </a:p>
          <a:p>
            <a:pPr marL="342900" lvl="0" indent="-342900">
              <a:buFont typeface="Arial" panose="020B0604020202020204" pitchFamily="34" charset="0"/>
              <a:buChar char="•"/>
            </a:pPr>
            <a:r>
              <a:rPr lang="en-IN" sz="2400" dirty="0"/>
              <a:t>To allow new features to be added easily. </a:t>
            </a:r>
          </a:p>
          <a:p>
            <a:pPr marL="342900" lvl="0" indent="-342900">
              <a:buFont typeface="Arial" panose="020B0604020202020204" pitchFamily="34" charset="0"/>
              <a:buChar char="•"/>
            </a:pPr>
            <a:r>
              <a:rPr lang="en-IN" sz="2400" dirty="0"/>
              <a:t>To provide better security and organization.</a:t>
            </a:r>
          </a:p>
          <a:p>
            <a:pPr lvl="0"/>
            <a:endParaRPr lang="en-IN" sz="2400" dirty="0"/>
          </a:p>
          <a:p>
            <a:pPr algn="just"/>
            <a:endParaRPr lang="en-IN" sz="2400" dirty="0">
              <a:solidFill>
                <a:schemeClr val="dk1"/>
              </a:solidFill>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2986091532"/>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DC0F-FA97-426B-2DCD-9447E83CBB83}"/>
              </a:ext>
            </a:extLst>
          </p:cNvPr>
          <p:cNvSpPr>
            <a:spLocks noGrp="1"/>
          </p:cNvSpPr>
          <p:nvPr>
            <p:ph type="title"/>
          </p:nvPr>
        </p:nvSpPr>
        <p:spPr>
          <a:xfrm>
            <a:off x="838200" y="136525"/>
            <a:ext cx="10515600" cy="633250"/>
          </a:xfrm>
        </p:spPr>
        <p:txBody>
          <a:bodyPr/>
          <a:lstStyle/>
          <a:p>
            <a:pPr algn="ctr"/>
            <a:r>
              <a:rPr lang="en-IN" b="1" dirty="0">
                <a:effectLst>
                  <a:outerShdw blurRad="38100" dist="38100" dir="2700000" algn="tl">
                    <a:srgbClr val="000000">
                      <a:alpha val="43137"/>
                    </a:srgbClr>
                  </a:outerShdw>
                </a:effectLst>
              </a:rPr>
              <a:t>Modular Breakdown</a:t>
            </a:r>
            <a:endParaRPr lang="en-IN"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3D7CAA9-BD14-A32E-1631-52DD57BCF458}"/>
              </a:ext>
            </a:extLst>
          </p:cNvPr>
          <p:cNvSpPr>
            <a:spLocks noGrp="1"/>
          </p:cNvSpPr>
          <p:nvPr>
            <p:ph idx="1"/>
          </p:nvPr>
        </p:nvSpPr>
        <p:spPr>
          <a:xfrm>
            <a:off x="838200" y="836580"/>
            <a:ext cx="10515600" cy="4351338"/>
          </a:xfrm>
        </p:spPr>
        <p:txBody>
          <a:bodyPr/>
          <a:lstStyle/>
          <a:p>
            <a:pPr marL="0" indent="0">
              <a:buNone/>
            </a:pPr>
            <a:r>
              <a:rPr lang="en-IN" sz="2400" b="1" dirty="0">
                <a:solidFill>
                  <a:srgbClr val="002060"/>
                </a:solidFill>
              </a:rPr>
              <a:t>Module 1: User Registration &amp; Authentication</a:t>
            </a:r>
          </a:p>
          <a:p>
            <a:pPr lvl="0"/>
            <a:r>
              <a:rPr lang="en-IN" sz="2400" dirty="0"/>
              <a:t>Allows students to create an account. </a:t>
            </a:r>
          </a:p>
          <a:p>
            <a:pPr lvl="0"/>
            <a:r>
              <a:rPr lang="en-IN" sz="2400" dirty="0"/>
              <a:t>Provides login and logout functionality. </a:t>
            </a:r>
          </a:p>
          <a:p>
            <a:pPr lvl="0"/>
            <a:r>
              <a:rPr lang="en-IN" sz="2400" dirty="0"/>
              <a:t>Manages user authentication and security. </a:t>
            </a:r>
          </a:p>
          <a:p>
            <a:pPr lvl="0"/>
            <a:r>
              <a:rPr lang="en-IN" sz="2400" dirty="0"/>
              <a:t>Stores basic student information.</a:t>
            </a:r>
          </a:p>
          <a:p>
            <a:pPr marL="0" lvl="0" indent="0">
              <a:buNone/>
            </a:pPr>
            <a:endParaRPr lang="en-IN" sz="1050" dirty="0"/>
          </a:p>
          <a:p>
            <a:r>
              <a:rPr lang="en-IN" sz="2400" b="1" dirty="0">
                <a:solidFill>
                  <a:srgbClr val="002060"/>
                </a:solidFill>
              </a:rPr>
              <a:t>Module 2: Student Profile Management</a:t>
            </a:r>
          </a:p>
          <a:p>
            <a:pPr lvl="0"/>
            <a:r>
              <a:rPr lang="en-IN" sz="2400" dirty="0"/>
              <a:t>Allows students to create and update their profiles. </a:t>
            </a:r>
          </a:p>
          <a:p>
            <a:pPr lvl="0"/>
            <a:r>
              <a:rPr lang="en-IN" sz="2400" dirty="0"/>
              <a:t>Students can add their interests, experience, and availability. </a:t>
            </a:r>
          </a:p>
          <a:p>
            <a:pPr lvl="0"/>
            <a:r>
              <a:rPr lang="en-IN" sz="2400" dirty="0"/>
              <a:t>Displays information that helps other students find suitable partners.</a:t>
            </a:r>
          </a:p>
          <a:p>
            <a:pPr marL="0" lvl="0" indent="0">
              <a:buNone/>
            </a:pPr>
            <a:endParaRPr lang="en-IN" sz="2400" dirty="0"/>
          </a:p>
          <a:p>
            <a:pPr marL="0" indent="0">
              <a:buNone/>
            </a:pPr>
            <a:endParaRPr lang="en-IN" sz="2400" dirty="0"/>
          </a:p>
        </p:txBody>
      </p:sp>
      <p:sp>
        <p:nvSpPr>
          <p:cNvPr id="4" name="Slide Number Placeholder 3">
            <a:extLst>
              <a:ext uri="{FF2B5EF4-FFF2-40B4-BE49-F238E27FC236}">
                <a16:creationId xmlns:a16="http://schemas.microsoft.com/office/drawing/2014/main" id="{A4C86A6E-07D7-3533-EB9F-3ABE2F89EB9B}"/>
              </a:ext>
            </a:extLst>
          </p:cNvPr>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2969982380"/>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D49F4-5963-E4C6-C180-5BD1F602CD0A}"/>
              </a:ext>
            </a:extLst>
          </p:cNvPr>
          <p:cNvSpPr>
            <a:spLocks noGrp="1"/>
          </p:cNvSpPr>
          <p:nvPr>
            <p:ph idx="1"/>
          </p:nvPr>
        </p:nvSpPr>
        <p:spPr>
          <a:xfrm>
            <a:off x="707572" y="416702"/>
            <a:ext cx="10515600" cy="4351338"/>
          </a:xfrm>
        </p:spPr>
        <p:txBody>
          <a:bodyPr/>
          <a:lstStyle/>
          <a:p>
            <a:pPr marL="0" indent="0">
              <a:buNone/>
            </a:pPr>
            <a:r>
              <a:rPr lang="en-IN" sz="2400" b="1" dirty="0">
                <a:solidFill>
                  <a:srgbClr val="002060"/>
                </a:solidFill>
              </a:rPr>
              <a:t>Module 3: Skill Management</a:t>
            </a:r>
          </a:p>
          <a:p>
            <a:pPr lvl="0"/>
            <a:r>
              <a:rPr lang="en-IN" sz="2400" dirty="0"/>
              <a:t>Students can add the skills they can teach. </a:t>
            </a:r>
          </a:p>
          <a:p>
            <a:pPr lvl="0"/>
            <a:r>
              <a:rPr lang="en-IN" sz="2400" dirty="0"/>
              <a:t>Students can specify the skills they want to learn. </a:t>
            </a:r>
          </a:p>
          <a:p>
            <a:pPr lvl="0"/>
            <a:r>
              <a:rPr lang="en-IN" sz="2400" dirty="0"/>
              <a:t>Skills can be categorized as technical or non-technical. </a:t>
            </a:r>
          </a:p>
          <a:p>
            <a:pPr lvl="0"/>
            <a:r>
              <a:rPr lang="en-IN" sz="2400" dirty="0"/>
              <a:t>Students can update or remove their skills. </a:t>
            </a:r>
          </a:p>
          <a:p>
            <a:pPr marL="0" lvl="0" indent="0">
              <a:buNone/>
            </a:pPr>
            <a:endParaRPr lang="en-IN" sz="1050" dirty="0"/>
          </a:p>
          <a:p>
            <a:pPr marL="0" indent="0">
              <a:buNone/>
            </a:pPr>
            <a:r>
              <a:rPr lang="en-IN" sz="2400" b="1" dirty="0">
                <a:solidFill>
                  <a:srgbClr val="002060"/>
                </a:solidFill>
              </a:rPr>
              <a:t>Module 4: Skill Matching</a:t>
            </a:r>
          </a:p>
          <a:p>
            <a:pPr lvl="0"/>
            <a:r>
              <a:rPr lang="en-IN" sz="2400" dirty="0"/>
              <a:t>Searches for students based on required skills. </a:t>
            </a:r>
          </a:p>
          <a:p>
            <a:pPr lvl="0"/>
            <a:r>
              <a:rPr lang="en-IN" sz="2400" dirty="0"/>
              <a:t>Matches students who can teach and learn from each other. </a:t>
            </a:r>
          </a:p>
          <a:p>
            <a:pPr lvl="0"/>
            <a:r>
              <a:rPr lang="en-IN" sz="2400" dirty="0"/>
              <a:t>Considers skill requirements and student preferences. </a:t>
            </a:r>
          </a:p>
          <a:p>
            <a:pPr lvl="0"/>
            <a:r>
              <a:rPr lang="en-IN" sz="2400" dirty="0"/>
              <a:t>Helps users find suitable skill-exchange partners.</a:t>
            </a:r>
          </a:p>
          <a:p>
            <a:pPr marL="0" indent="0">
              <a:buNone/>
            </a:pPr>
            <a:endParaRPr lang="en-IN" sz="2400" dirty="0"/>
          </a:p>
        </p:txBody>
      </p:sp>
      <p:sp>
        <p:nvSpPr>
          <p:cNvPr id="4" name="Slide Number Placeholder 3">
            <a:extLst>
              <a:ext uri="{FF2B5EF4-FFF2-40B4-BE49-F238E27FC236}">
                <a16:creationId xmlns:a16="http://schemas.microsoft.com/office/drawing/2014/main" id="{EB9A14AF-FA4B-81AA-FE31-DBE4BAB153FC}"/>
              </a:ext>
            </a:extLst>
          </p:cNvPr>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949432639"/>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EE656-39ED-CDC4-C44A-39C86E411FB6}"/>
              </a:ext>
            </a:extLst>
          </p:cNvPr>
          <p:cNvSpPr>
            <a:spLocks noGrp="1"/>
          </p:cNvSpPr>
          <p:nvPr>
            <p:ph idx="1"/>
          </p:nvPr>
        </p:nvSpPr>
        <p:spPr>
          <a:xfrm>
            <a:off x="838200" y="621976"/>
            <a:ext cx="10515600" cy="4351338"/>
          </a:xfrm>
        </p:spPr>
        <p:txBody>
          <a:bodyPr/>
          <a:lstStyle/>
          <a:p>
            <a:pPr marL="0" indent="0">
              <a:buNone/>
            </a:pPr>
            <a:r>
              <a:rPr lang="en-IN" sz="2400" b="1" dirty="0">
                <a:solidFill>
                  <a:srgbClr val="002060"/>
                </a:solidFill>
              </a:rPr>
              <a:t>Module 5: Exchange Request</a:t>
            </a:r>
          </a:p>
          <a:p>
            <a:pPr lvl="0"/>
            <a:r>
              <a:rPr lang="en-IN" sz="2400" dirty="0"/>
              <a:t>Allows students to send skill-exchange requests. </a:t>
            </a:r>
          </a:p>
          <a:p>
            <a:pPr lvl="0"/>
            <a:r>
              <a:rPr lang="en-IN" sz="2400" dirty="0"/>
              <a:t>Students can accept or reject requests. </a:t>
            </a:r>
          </a:p>
          <a:p>
            <a:pPr lvl="0"/>
            <a:r>
              <a:rPr lang="en-IN" sz="2400" dirty="0"/>
              <a:t>Maintains the status of each exchange request. </a:t>
            </a:r>
          </a:p>
          <a:p>
            <a:pPr lvl="0"/>
            <a:r>
              <a:rPr lang="en-IN" sz="2400" dirty="0"/>
              <a:t>Helps organize the skill-exchange process. </a:t>
            </a:r>
          </a:p>
          <a:p>
            <a:pPr lvl="0"/>
            <a:endParaRPr lang="en-IN" sz="2400" dirty="0"/>
          </a:p>
          <a:p>
            <a:pPr marL="0" indent="0">
              <a:buNone/>
            </a:pPr>
            <a:r>
              <a:rPr lang="en-IN" sz="2400" b="1" dirty="0">
                <a:solidFill>
                  <a:srgbClr val="002060"/>
                </a:solidFill>
              </a:rPr>
              <a:t>Module 6: Communication &amp; Chat</a:t>
            </a:r>
          </a:p>
          <a:p>
            <a:pPr lvl="0"/>
            <a:r>
              <a:rPr lang="en-IN" sz="2400" dirty="0"/>
              <a:t>Allows matched students to communicate. </a:t>
            </a:r>
          </a:p>
          <a:p>
            <a:pPr lvl="0"/>
            <a:r>
              <a:rPr lang="en-IN" sz="2400" dirty="0"/>
              <a:t>Students can discuss learning requirements and schedules. </a:t>
            </a:r>
          </a:p>
          <a:p>
            <a:pPr lvl="0"/>
            <a:r>
              <a:rPr lang="en-IN" sz="2400" dirty="0"/>
              <a:t>Supports real-time messaging between users.</a:t>
            </a:r>
          </a:p>
          <a:p>
            <a:pPr marL="0" indent="0">
              <a:buNone/>
            </a:pPr>
            <a:endParaRPr lang="en-IN" sz="2400" dirty="0"/>
          </a:p>
        </p:txBody>
      </p:sp>
      <p:sp>
        <p:nvSpPr>
          <p:cNvPr id="4" name="Slide Number Placeholder 3">
            <a:extLst>
              <a:ext uri="{FF2B5EF4-FFF2-40B4-BE49-F238E27FC236}">
                <a16:creationId xmlns:a16="http://schemas.microsoft.com/office/drawing/2014/main" id="{40B510E9-C49B-6D53-F4A6-47729A6F50C8}"/>
              </a:ext>
            </a:extLst>
          </p:cNvPr>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2173206499"/>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22123-495B-E25D-87AE-39A970CA4D13}"/>
              </a:ext>
            </a:extLst>
          </p:cNvPr>
          <p:cNvSpPr>
            <a:spLocks noGrp="1"/>
          </p:cNvSpPr>
          <p:nvPr>
            <p:ph idx="1"/>
          </p:nvPr>
        </p:nvSpPr>
        <p:spPr>
          <a:xfrm>
            <a:off x="838200" y="538001"/>
            <a:ext cx="10515600" cy="4351338"/>
          </a:xfrm>
        </p:spPr>
        <p:txBody>
          <a:bodyPr/>
          <a:lstStyle/>
          <a:p>
            <a:pPr marL="0" indent="0">
              <a:buNone/>
            </a:pPr>
            <a:r>
              <a:rPr lang="en-IN" sz="2400" b="1" dirty="0">
                <a:solidFill>
                  <a:srgbClr val="002060"/>
                </a:solidFill>
              </a:rPr>
              <a:t>Module 7: Session Scheduling</a:t>
            </a:r>
          </a:p>
          <a:p>
            <a:pPr lvl="0"/>
            <a:r>
              <a:rPr lang="en-IN" sz="2400" dirty="0"/>
              <a:t>Allows students to schedule learning sessions. </a:t>
            </a:r>
          </a:p>
          <a:p>
            <a:pPr lvl="0"/>
            <a:r>
              <a:rPr lang="en-IN" sz="2400" dirty="0"/>
              <a:t>Users can select suitable dates and times. </a:t>
            </a:r>
          </a:p>
          <a:p>
            <a:pPr lvl="0"/>
            <a:r>
              <a:rPr lang="en-IN" sz="2400" dirty="0"/>
              <a:t>Helps students manage their learning activities. </a:t>
            </a:r>
          </a:p>
          <a:p>
            <a:pPr marL="0" lvl="0" indent="0">
              <a:buNone/>
            </a:pPr>
            <a:endParaRPr lang="en-IN" sz="1050" dirty="0"/>
          </a:p>
          <a:p>
            <a:pPr marL="0" indent="0">
              <a:buNone/>
            </a:pPr>
            <a:r>
              <a:rPr lang="en-IN" sz="2400" b="1" dirty="0">
                <a:solidFill>
                  <a:srgbClr val="002060"/>
                </a:solidFill>
              </a:rPr>
              <a:t>Module 8: Rating &amp; Feedback</a:t>
            </a:r>
          </a:p>
          <a:p>
            <a:pPr lvl="0"/>
            <a:r>
              <a:rPr lang="en-IN" sz="2400" dirty="0"/>
              <a:t>Students can rate their learning partners. </a:t>
            </a:r>
          </a:p>
          <a:p>
            <a:pPr lvl="0"/>
            <a:r>
              <a:rPr lang="en-IN" sz="2400" dirty="0"/>
              <a:t>Users can provide feedback after completing an exchange. </a:t>
            </a:r>
          </a:p>
          <a:p>
            <a:pPr lvl="0"/>
            <a:r>
              <a:rPr lang="en-IN" sz="2400" dirty="0"/>
              <a:t>Helps maintain the quality and reliability of the platform.</a:t>
            </a:r>
          </a:p>
          <a:p>
            <a:pPr marL="0" indent="0">
              <a:buNone/>
            </a:pPr>
            <a:endParaRPr lang="en-IN" sz="2400" dirty="0"/>
          </a:p>
        </p:txBody>
      </p:sp>
      <p:sp>
        <p:nvSpPr>
          <p:cNvPr id="4" name="Slide Number Placeholder 3">
            <a:extLst>
              <a:ext uri="{FF2B5EF4-FFF2-40B4-BE49-F238E27FC236}">
                <a16:creationId xmlns:a16="http://schemas.microsoft.com/office/drawing/2014/main" id="{730E4E21-6532-3311-9479-4DCDC0DA2402}"/>
              </a:ext>
            </a:extLst>
          </p:cNvPr>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1496602718"/>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D546D3-FED8-CBB6-17F5-2B5575398052}"/>
              </a:ext>
            </a:extLst>
          </p:cNvPr>
          <p:cNvSpPr>
            <a:spLocks noGrp="1"/>
          </p:cNvSpPr>
          <p:nvPr>
            <p:ph idx="1"/>
          </p:nvPr>
        </p:nvSpPr>
        <p:spPr>
          <a:xfrm>
            <a:off x="838200" y="649968"/>
            <a:ext cx="10515600" cy="4351338"/>
          </a:xfrm>
        </p:spPr>
        <p:txBody>
          <a:bodyPr/>
          <a:lstStyle/>
          <a:p>
            <a:pPr marL="0" indent="0">
              <a:buNone/>
            </a:pPr>
            <a:r>
              <a:rPr lang="en-IN" sz="2400" b="1" dirty="0">
                <a:solidFill>
                  <a:srgbClr val="002060"/>
                </a:solidFill>
              </a:rPr>
              <a:t>Module 9: Admin Module</a:t>
            </a:r>
          </a:p>
          <a:p>
            <a:pPr lvl="0"/>
            <a:r>
              <a:rPr lang="en-IN" sz="2400" dirty="0"/>
              <a:t>Admin can manage student accounts. </a:t>
            </a:r>
          </a:p>
          <a:p>
            <a:pPr lvl="0"/>
            <a:r>
              <a:rPr lang="en-IN" sz="2400" dirty="0"/>
              <a:t>Admin can monitor skills and exchange activities. </a:t>
            </a:r>
          </a:p>
          <a:p>
            <a:pPr lvl="0"/>
            <a:r>
              <a:rPr lang="en-IN" sz="2400" dirty="0"/>
              <a:t>Admin can handle inappropriate users or content. </a:t>
            </a:r>
          </a:p>
          <a:p>
            <a:pPr lvl="0"/>
            <a:r>
              <a:rPr lang="en-IN" sz="2400" dirty="0"/>
              <a:t>Provides overall control of the system.</a:t>
            </a:r>
          </a:p>
          <a:p>
            <a:pPr marL="0" indent="0">
              <a:buNone/>
            </a:pPr>
            <a:endParaRPr lang="en-IN" sz="2400" dirty="0"/>
          </a:p>
        </p:txBody>
      </p:sp>
      <p:sp>
        <p:nvSpPr>
          <p:cNvPr id="4" name="Slide Number Placeholder 3">
            <a:extLst>
              <a:ext uri="{FF2B5EF4-FFF2-40B4-BE49-F238E27FC236}">
                <a16:creationId xmlns:a16="http://schemas.microsoft.com/office/drawing/2014/main" id="{4EB2A951-89E8-7F4B-04FE-FD886B029EAB}"/>
              </a:ext>
            </a:extLst>
          </p:cNvPr>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000478156"/>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8FEFCB6-E495-C8D1-A4B4-DB711C758E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7EE171-E143-6383-8BA5-E447B945EFE3}"/>
              </a:ext>
            </a:extLst>
          </p:cNvPr>
          <p:cNvSpPr>
            <a:spLocks noGrp="1"/>
          </p:cNvSpPr>
          <p:nvPr>
            <p:ph type="title"/>
          </p:nvPr>
        </p:nvSpPr>
        <p:spPr>
          <a:xfrm>
            <a:off x="747823" y="-17758"/>
            <a:ext cx="10696354" cy="1143000"/>
          </a:xfrm>
        </p:spPr>
        <p:txBody>
          <a:bodyPr/>
          <a:lstStyle/>
          <a:p>
            <a:pPr algn="ctr"/>
            <a:r>
              <a:rPr lang="en-US"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Tools And Technologies To Be Used</a:t>
            </a:r>
          </a:p>
        </p:txBody>
      </p:sp>
      <p:sp>
        <p:nvSpPr>
          <p:cNvPr id="4" name="Content Placeholder 2">
            <a:extLst>
              <a:ext uri="{FF2B5EF4-FFF2-40B4-BE49-F238E27FC236}">
                <a16:creationId xmlns:a16="http://schemas.microsoft.com/office/drawing/2014/main" id="{3A158C02-4ADF-2A2E-85C5-99FC60D092ED}"/>
              </a:ext>
            </a:extLst>
          </p:cNvPr>
          <p:cNvSpPr>
            <a:spLocks noGrp="1"/>
          </p:cNvSpPr>
          <p:nvPr>
            <p:ph idx="1"/>
          </p:nvPr>
        </p:nvSpPr>
        <p:spPr>
          <a:xfrm>
            <a:off x="1013637" y="1272109"/>
            <a:ext cx="10164726" cy="4525963"/>
          </a:xfrm>
        </p:spPr>
        <p:txBody>
          <a:bodyPr/>
          <a:lstStyle/>
          <a:p>
            <a:pPr lvl="0"/>
            <a:r>
              <a:rPr lang="en-IN" sz="2400" b="1" dirty="0">
                <a:solidFill>
                  <a:srgbClr val="002060"/>
                </a:solidFill>
              </a:rPr>
              <a:t>Development Tools</a:t>
            </a:r>
            <a:r>
              <a:rPr lang="en-IN" sz="2400" b="1" dirty="0"/>
              <a:t>:</a:t>
            </a:r>
            <a:r>
              <a:rPr lang="en-IN" sz="2400" dirty="0"/>
              <a:t> Visual Studio Code </a:t>
            </a:r>
          </a:p>
          <a:p>
            <a:pPr lvl="0"/>
            <a:r>
              <a:rPr lang="en-IN" sz="2400" b="1" dirty="0">
                <a:solidFill>
                  <a:srgbClr val="002060"/>
                </a:solidFill>
              </a:rPr>
              <a:t>Programming Languages</a:t>
            </a:r>
            <a:r>
              <a:rPr lang="en-IN" sz="2400" b="1" dirty="0"/>
              <a:t>:</a:t>
            </a:r>
            <a:r>
              <a:rPr lang="en-IN" sz="2400" dirty="0"/>
              <a:t> HTML, CSS, JavaScript </a:t>
            </a:r>
          </a:p>
          <a:p>
            <a:pPr lvl="0"/>
            <a:r>
              <a:rPr lang="en-IN" sz="2400" b="1" dirty="0">
                <a:solidFill>
                  <a:srgbClr val="002060"/>
                </a:solidFill>
              </a:rPr>
              <a:t>Frameworks/Libraries</a:t>
            </a:r>
            <a:r>
              <a:rPr lang="en-IN" sz="2400" b="1" dirty="0"/>
              <a:t>:</a:t>
            </a:r>
            <a:r>
              <a:rPr lang="en-IN" sz="2400" dirty="0"/>
              <a:t> React.js, Node.js, Express.js </a:t>
            </a:r>
          </a:p>
          <a:p>
            <a:pPr lvl="0"/>
            <a:r>
              <a:rPr lang="en-IN" sz="2400" b="1" dirty="0">
                <a:solidFill>
                  <a:srgbClr val="002060"/>
                </a:solidFill>
              </a:rPr>
              <a:t>Database</a:t>
            </a:r>
            <a:r>
              <a:rPr lang="en-IN" sz="2400" b="1" dirty="0"/>
              <a:t>:</a:t>
            </a:r>
            <a:r>
              <a:rPr lang="en-IN" sz="2400" dirty="0"/>
              <a:t> MongoDB </a:t>
            </a:r>
          </a:p>
          <a:p>
            <a:pPr lvl="0"/>
            <a:r>
              <a:rPr lang="en-IN" sz="2400" b="1" dirty="0">
                <a:solidFill>
                  <a:srgbClr val="002060"/>
                </a:solidFill>
              </a:rPr>
              <a:t>Version Control</a:t>
            </a:r>
            <a:r>
              <a:rPr lang="en-IN" sz="2400" b="1" dirty="0"/>
              <a:t>:</a:t>
            </a:r>
            <a:r>
              <a:rPr lang="en-IN" sz="2400" dirty="0"/>
              <a:t> Git, GitHub </a:t>
            </a:r>
          </a:p>
          <a:p>
            <a:pPr lvl="0"/>
            <a:r>
              <a:rPr lang="en-IN" sz="2400" b="1" dirty="0">
                <a:solidFill>
                  <a:srgbClr val="002060"/>
                </a:solidFill>
              </a:rPr>
              <a:t>Additional Tools</a:t>
            </a:r>
            <a:r>
              <a:rPr lang="en-IN" sz="2400" b="1" dirty="0"/>
              <a:t>:</a:t>
            </a:r>
            <a:r>
              <a:rPr lang="en-IN" sz="2400" dirty="0"/>
              <a:t> Postman, Figma, JWT Authentication, REST APIs </a:t>
            </a:r>
          </a:p>
          <a:p>
            <a:pPr lvl="0"/>
            <a:r>
              <a:rPr lang="en-IN" sz="2400" b="1" dirty="0">
                <a:solidFill>
                  <a:srgbClr val="002060"/>
                </a:solidFill>
              </a:rPr>
              <a:t>Cloud Services</a:t>
            </a:r>
            <a:r>
              <a:rPr lang="en-IN" sz="2400" b="1" dirty="0"/>
              <a:t>:</a:t>
            </a:r>
            <a:r>
              <a:rPr lang="en-IN" sz="2400" dirty="0"/>
              <a:t> MongoDB Atlas, </a:t>
            </a:r>
            <a:r>
              <a:rPr lang="en-IN" sz="2400" dirty="0" err="1"/>
              <a:t>Cloudinary</a:t>
            </a:r>
            <a:r>
              <a:rPr lang="en-IN" sz="2400" dirty="0"/>
              <a:t> (optional)</a:t>
            </a:r>
          </a:p>
          <a:p>
            <a:pPr marL="0" indent="0">
              <a:buNone/>
            </a:pPr>
            <a:endParaRPr sz="2400" dirty="0">
              <a:solidFill>
                <a:schemeClr val="dk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50896396"/>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422ED-2421-72BA-AE88-072DDD554DE7}"/>
              </a:ext>
            </a:extLst>
          </p:cNvPr>
          <p:cNvSpPr>
            <a:spLocks noGrp="1"/>
          </p:cNvSpPr>
          <p:nvPr>
            <p:ph idx="1"/>
          </p:nvPr>
        </p:nvSpPr>
        <p:spPr>
          <a:xfrm>
            <a:off x="838200" y="-50800"/>
            <a:ext cx="10515600" cy="4351338"/>
          </a:xfrm>
        </p:spPr>
        <p:txBody>
          <a:bodyPr/>
          <a:lstStyle/>
          <a:p>
            <a:pPr marL="0" indent="0" algn="ctr">
              <a:buNone/>
            </a:pPr>
            <a:r>
              <a:rPr lang="en-IN" sz="3600" b="1" dirty="0">
                <a:effectLst>
                  <a:outerShdw blurRad="38100" dist="38100" dir="2700000" algn="tl">
                    <a:srgbClr val="000000">
                      <a:alpha val="43137"/>
                    </a:srgbClr>
                  </a:outerShdw>
                </a:effectLst>
              </a:rPr>
              <a:t>Software Requirement Analysis</a:t>
            </a:r>
          </a:p>
          <a:p>
            <a:pPr marL="0" indent="0">
              <a:buNone/>
            </a:pPr>
            <a:r>
              <a:rPr lang="en-IN" b="1" dirty="0">
                <a:solidFill>
                  <a:srgbClr val="002060"/>
                </a:solidFill>
              </a:rPr>
              <a:t>Purpose</a:t>
            </a:r>
            <a:r>
              <a:rPr lang="en-IN" b="1" dirty="0"/>
              <a:t>:</a:t>
            </a:r>
            <a:br>
              <a:rPr lang="en-IN" dirty="0"/>
            </a:br>
            <a:r>
              <a:rPr lang="en-IN" sz="2400" dirty="0"/>
              <a:t>A peer-to-peer platform where students </a:t>
            </a:r>
            <a:r>
              <a:rPr lang="en-IN" sz="2400" b="1" dirty="0"/>
              <a:t>teach skills they know and learn skills they want</a:t>
            </a:r>
            <a:r>
              <a:rPr lang="en-IN" sz="2400" dirty="0"/>
              <a:t>, without monetary payment.</a:t>
            </a:r>
          </a:p>
          <a:p>
            <a:pPr marL="0" indent="0">
              <a:buNone/>
            </a:pPr>
            <a:endParaRPr lang="en-IN" dirty="0"/>
          </a:p>
        </p:txBody>
      </p:sp>
      <p:sp>
        <p:nvSpPr>
          <p:cNvPr id="4" name="Slide Number Placeholder 3">
            <a:extLst>
              <a:ext uri="{FF2B5EF4-FFF2-40B4-BE49-F238E27FC236}">
                <a16:creationId xmlns:a16="http://schemas.microsoft.com/office/drawing/2014/main" id="{1F9391DB-E424-DF49-AC98-6D57199E5C89}"/>
              </a:ext>
            </a:extLst>
          </p:cNvPr>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graphicFrame>
        <p:nvGraphicFramePr>
          <p:cNvPr id="5" name="Table 4">
            <a:extLst>
              <a:ext uri="{FF2B5EF4-FFF2-40B4-BE49-F238E27FC236}">
                <a16:creationId xmlns:a16="http://schemas.microsoft.com/office/drawing/2014/main" id="{CA28B402-ABA4-5E8F-0643-C66D2E01EADC}"/>
              </a:ext>
            </a:extLst>
          </p:cNvPr>
          <p:cNvGraphicFramePr>
            <a:graphicFrameLocks noGrp="1"/>
          </p:cNvGraphicFramePr>
          <p:nvPr>
            <p:extLst>
              <p:ext uri="{D42A27DB-BD31-4B8C-83A1-F6EECF244321}">
                <p14:modId xmlns:p14="http://schemas.microsoft.com/office/powerpoint/2010/main" val="1772105019"/>
              </p:ext>
            </p:extLst>
          </p:nvPr>
        </p:nvGraphicFramePr>
        <p:xfrm>
          <a:off x="1854200" y="1738789"/>
          <a:ext cx="8128000" cy="388603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18301992"/>
                    </a:ext>
                  </a:extLst>
                </a:gridCol>
                <a:gridCol w="4064000">
                  <a:extLst>
                    <a:ext uri="{9D8B030D-6E8A-4147-A177-3AD203B41FA5}">
                      <a16:colId xmlns:a16="http://schemas.microsoft.com/office/drawing/2014/main" val="2590562345"/>
                    </a:ext>
                  </a:extLst>
                </a:gridCol>
              </a:tblGrid>
              <a:tr h="411318">
                <a:tc>
                  <a:txBody>
                    <a:bodyPr/>
                    <a:lstStyle/>
                    <a:p>
                      <a:r>
                        <a:rPr lang="en-IN" dirty="0"/>
                        <a:t>Functional Requirements</a:t>
                      </a:r>
                    </a:p>
                  </a:txBody>
                  <a:tcPr/>
                </a:tc>
                <a:tc>
                  <a:txBody>
                    <a:bodyPr/>
                    <a:lstStyle/>
                    <a:p>
                      <a:r>
                        <a:rPr lang="en-IN" dirty="0"/>
                        <a:t>Non-Functional Requirements</a:t>
                      </a:r>
                    </a:p>
                  </a:txBody>
                  <a:tcPr/>
                </a:tc>
                <a:extLst>
                  <a:ext uri="{0D108BD9-81ED-4DB2-BD59-A6C34878D82A}">
                    <a16:rowId xmlns:a16="http://schemas.microsoft.com/office/drawing/2014/main" val="3637775333"/>
                  </a:ext>
                </a:extLst>
              </a:tr>
              <a:tr h="413206">
                <a:tc>
                  <a:txBody>
                    <a:bodyPr/>
                    <a:lstStyle/>
                    <a:p>
                      <a:r>
                        <a:rPr lang="en-IN" b="1" dirty="0"/>
                        <a:t>User Registration &amp; Authentication</a:t>
                      </a:r>
                      <a:r>
                        <a:rPr lang="en-IN" dirty="0"/>
                        <a:t> – Secure signup and login.</a:t>
                      </a:r>
                    </a:p>
                  </a:txBody>
                  <a:tcPr/>
                </a:tc>
                <a:tc>
                  <a:txBody>
                    <a:bodyPr/>
                    <a:lstStyle/>
                    <a:p>
                      <a:r>
                        <a:rPr lang="en-IN" b="1" dirty="0"/>
                        <a:t>Security</a:t>
                      </a:r>
                      <a:r>
                        <a:rPr lang="en-IN" dirty="0"/>
                        <a:t> – Protect user data using JWT and password hashing.</a:t>
                      </a:r>
                    </a:p>
                  </a:txBody>
                  <a:tcPr/>
                </a:tc>
                <a:extLst>
                  <a:ext uri="{0D108BD9-81ED-4DB2-BD59-A6C34878D82A}">
                    <a16:rowId xmlns:a16="http://schemas.microsoft.com/office/drawing/2014/main" val="3847348777"/>
                  </a:ext>
                </a:extLst>
              </a:tr>
              <a:tr h="413206">
                <a:tc>
                  <a:txBody>
                    <a:bodyPr/>
                    <a:lstStyle/>
                    <a:p>
                      <a:r>
                        <a:rPr lang="en-IN" b="1" dirty="0"/>
                        <a:t>Profile &amp; Skill Management</a:t>
                      </a:r>
                      <a:r>
                        <a:rPr lang="en-IN" dirty="0"/>
                        <a:t> – Add interests, skills and availability.</a:t>
                      </a:r>
                    </a:p>
                  </a:txBody>
                  <a:tcPr/>
                </a:tc>
                <a:tc>
                  <a:txBody>
                    <a:bodyPr/>
                    <a:lstStyle/>
                    <a:p>
                      <a:r>
                        <a:rPr lang="en-IN" b="1" dirty="0"/>
                        <a:t>Performance</a:t>
                      </a:r>
                      <a:r>
                        <a:rPr lang="en-IN" dirty="0"/>
                        <a:t> – Provide fast search, matching and messaging.</a:t>
                      </a:r>
                    </a:p>
                  </a:txBody>
                  <a:tcPr/>
                </a:tc>
                <a:extLst>
                  <a:ext uri="{0D108BD9-81ED-4DB2-BD59-A6C34878D82A}">
                    <a16:rowId xmlns:a16="http://schemas.microsoft.com/office/drawing/2014/main" val="801495077"/>
                  </a:ext>
                </a:extLst>
              </a:tr>
              <a:tr h="413206">
                <a:tc>
                  <a:txBody>
                    <a:bodyPr/>
                    <a:lstStyle/>
                    <a:p>
                      <a:r>
                        <a:rPr lang="en-IN" b="1" dirty="0"/>
                        <a:t>Skill Matching</a:t>
                      </a:r>
                      <a:r>
                        <a:rPr lang="en-IN" dirty="0"/>
                        <a:t> – Find suitable learning partners.</a:t>
                      </a:r>
                      <a:r>
                        <a:rPr lang="en-IN" b="1" dirty="0"/>
                        <a:t> </a:t>
                      </a:r>
                      <a:endParaRPr lang="en-IN" dirty="0"/>
                    </a:p>
                  </a:txBody>
                  <a:tcPr/>
                </a:tc>
                <a:tc>
                  <a:txBody>
                    <a:bodyPr/>
                    <a:lstStyle/>
                    <a:p>
                      <a:r>
                        <a:rPr lang="en-IN" b="1" dirty="0"/>
                        <a:t>Scalability</a:t>
                      </a:r>
                      <a:r>
                        <a:rPr lang="en-IN" dirty="0"/>
                        <a:t> – Support increasing users and data.</a:t>
                      </a:r>
                    </a:p>
                  </a:txBody>
                  <a:tcPr/>
                </a:tc>
                <a:extLst>
                  <a:ext uri="{0D108BD9-81ED-4DB2-BD59-A6C34878D82A}">
                    <a16:rowId xmlns:a16="http://schemas.microsoft.com/office/drawing/2014/main" val="3809311039"/>
                  </a:ext>
                </a:extLst>
              </a:tr>
              <a:tr h="413206">
                <a:tc>
                  <a:txBody>
                    <a:bodyPr/>
                    <a:lstStyle/>
                    <a:p>
                      <a:r>
                        <a:rPr lang="en-IN" b="1" dirty="0"/>
                        <a:t>Exchange &amp; Communication</a:t>
                      </a:r>
                      <a:r>
                        <a:rPr lang="en-IN" dirty="0"/>
                        <a:t> – Send requests and chat with partners.</a:t>
                      </a:r>
                    </a:p>
                  </a:txBody>
                  <a:tcPr/>
                </a:tc>
                <a:tc>
                  <a:txBody>
                    <a:bodyPr/>
                    <a:lstStyle/>
                    <a:p>
                      <a:r>
                        <a:rPr lang="en-IN" b="1" dirty="0"/>
                        <a:t>Usability</a:t>
                      </a:r>
                      <a:r>
                        <a:rPr lang="en-IN" dirty="0"/>
                        <a:t> – Simple and user-friendly interface.</a:t>
                      </a:r>
                    </a:p>
                  </a:txBody>
                  <a:tcPr/>
                </a:tc>
                <a:extLst>
                  <a:ext uri="{0D108BD9-81ED-4DB2-BD59-A6C34878D82A}">
                    <a16:rowId xmlns:a16="http://schemas.microsoft.com/office/drawing/2014/main" val="1498197386"/>
                  </a:ext>
                </a:extLst>
              </a:tr>
              <a:tr h="4132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Scheduling &amp; Rating</a:t>
                      </a:r>
                      <a:r>
                        <a:rPr lang="en-IN" dirty="0"/>
                        <a:t> – Schedule sessions and provide feedback. </a:t>
                      </a:r>
                    </a:p>
                    <a:p>
                      <a:endParaRPr lang="en-IN" dirty="0"/>
                    </a:p>
                  </a:txBody>
                  <a:tcPr/>
                </a:tc>
                <a:tc>
                  <a:txBody>
                    <a:bodyPr/>
                    <a:lstStyle/>
                    <a:p>
                      <a:r>
                        <a:rPr lang="en-IN" b="1" dirty="0"/>
                        <a:t>Reliability</a:t>
                      </a:r>
                      <a:r>
                        <a:rPr lang="en-IN" dirty="0"/>
                        <a:t> – Maintain accurate and consistent records.</a:t>
                      </a:r>
                    </a:p>
                  </a:txBody>
                  <a:tcPr/>
                </a:tc>
                <a:extLst>
                  <a:ext uri="{0D108BD9-81ED-4DB2-BD59-A6C34878D82A}">
                    <a16:rowId xmlns:a16="http://schemas.microsoft.com/office/drawing/2014/main" val="1900586048"/>
                  </a:ext>
                </a:extLst>
              </a:tr>
            </a:tbl>
          </a:graphicData>
        </a:graphic>
      </p:graphicFrame>
    </p:spTree>
    <p:extLst>
      <p:ext uri="{BB962C8B-B14F-4D97-AF65-F5344CB8AC3E}">
        <p14:creationId xmlns:p14="http://schemas.microsoft.com/office/powerpoint/2010/main" val="1405871353"/>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6" name="Picture 5">
            <a:extLst>
              <a:ext uri="{FF2B5EF4-FFF2-40B4-BE49-F238E27FC236}">
                <a16:creationId xmlns:a16="http://schemas.microsoft.com/office/drawing/2014/main" id="{03805C36-2258-D3BD-6B00-5D37CBA70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Tree>
    <p:extLst>
      <p:ext uri="{BB962C8B-B14F-4D97-AF65-F5344CB8AC3E}">
        <p14:creationId xmlns:p14="http://schemas.microsoft.com/office/powerpoint/2010/main" val="479890276"/>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3" name="Picture 2">
            <a:extLst>
              <a:ext uri="{FF2B5EF4-FFF2-40B4-BE49-F238E27FC236}">
                <a16:creationId xmlns:a16="http://schemas.microsoft.com/office/drawing/2014/main" id="{5F58853B-98D0-5F47-75CA-E6FE2BB9B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2926" y="979715"/>
            <a:ext cx="5966148" cy="3977432"/>
          </a:xfrm>
          <a:prstGeom prst="rect">
            <a:avLst/>
          </a:prstGeom>
        </p:spPr>
      </p:pic>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7821</TotalTime>
  <Words>1318</Words>
  <Application>Microsoft Office PowerPoint</Application>
  <PresentationFormat>Widescreen</PresentationFormat>
  <Paragraphs>146</Paragraphs>
  <Slides>16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Calibri (Body)</vt:lpstr>
      <vt:lpstr>Calibri Light</vt:lpstr>
      <vt:lpstr>Cambria</vt:lpstr>
      <vt:lpstr>Times New Roman</vt:lpstr>
      <vt:lpstr>Verdana</vt:lpstr>
      <vt:lpstr>Wingdings</vt:lpstr>
      <vt:lpstr>Office Theme</vt:lpstr>
      <vt:lpstr>BCA Mini Project (Review I)  STUDENT SKILL EXCHANGE  </vt:lpstr>
      <vt:lpstr>Content</vt:lpstr>
      <vt:lpstr>Problem Statement</vt:lpstr>
      <vt:lpstr>PowerPoint Presentation</vt:lpstr>
      <vt:lpstr>PowerPoint Presentation</vt:lpstr>
      <vt:lpstr>PowerPoint Presentation</vt:lpstr>
      <vt:lpstr>Module Design</vt:lpstr>
      <vt:lpstr>Modular Breakdown</vt:lpstr>
      <vt:lpstr>PowerPoint Presentation</vt:lpstr>
      <vt:lpstr>PowerPoint Presentation</vt:lpstr>
      <vt:lpstr>PowerPoint Presentation</vt:lpstr>
      <vt:lpstr>PowerPoint Presentation</vt:lpstr>
      <vt:lpstr>Tools And Technologies To Be Used</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ganesh v</cp:lastModifiedBy>
  <cp:revision>922</cp:revision>
  <cp:lastPrinted>2018-07-24T06:37:20Z</cp:lastPrinted>
  <dcterms:created xsi:type="dcterms:W3CDTF">2018-06-07T04:06:17Z</dcterms:created>
  <dcterms:modified xsi:type="dcterms:W3CDTF">2026-09-11T11:33:32Z</dcterms:modified>
</cp:coreProperties>
</file>